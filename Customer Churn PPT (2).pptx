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319" r:id="rId2"/>
    <p:sldId id="320" r:id="rId3"/>
    <p:sldId id="321" r:id="rId4"/>
  </p:sldIdLst>
  <p:sldSz cx="12188825" cy="6858000"/>
  <p:notesSz cx="6858000" cy="9144000"/>
  <p:custDataLst>
    <p:tags r:id="rId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29" autoAdjust="0"/>
  </p:normalViewPr>
  <p:slideViewPr>
    <p:cSldViewPr showGuides="1">
      <p:cViewPr>
        <p:scale>
          <a:sx n="66" d="100"/>
          <a:sy n="66" d="100"/>
        </p:scale>
        <p:origin x="1330" y="413"/>
      </p:cViewPr>
      <p:guideLst>
        <p:guide pos="3839"/>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63" d="100"/>
          <a:sy n="63" d="100"/>
        </p:scale>
        <p:origin x="198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tags" Target="tags/tag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88EAF-6ECA-4616-85EF-35AA19C641F3}" type="datetimeFigureOut">
              <a:rPr lang="en-US"/>
              <a:t>11/28/2025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F912AB-2776-42F2-A957-313FC7EFEDB9}" type="slidenum">
              <a:rPr/>
              <a:t>‹#›</a:t>
            </a:fld>
            <a:endParaRPr/>
          </a:p>
        </p:txBody>
      </p:sp>
    </p:spTree>
    <p:extLst>
      <p:ext uri="{BB962C8B-B14F-4D97-AF65-F5344CB8AC3E}">
        <p14:creationId xmlns:p14="http://schemas.microsoft.com/office/powerpoint/2010/main" val="3932065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a:t>11/28/2025</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a:t>‹#›</a:t>
            </a:fld>
            <a:endParaRPr/>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1828800"/>
            <a:ext cx="8229600" cy="28956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p:nvPr>
        </p:nvSpPr>
        <p:spPr>
          <a:xfrm>
            <a:off x="1065213" y="4800600"/>
            <a:ext cx="8229600" cy="1219200"/>
          </a:xfrm>
        </p:spPr>
        <p:txBody>
          <a:bodyPr>
            <a:normAutofit/>
          </a:bodyPr>
          <a:lstStyle>
            <a:lvl1pPr marL="0" indent="0" algn="l">
              <a:spcBef>
                <a:spcPts val="0"/>
              </a:spcBef>
              <a:buNone/>
              <a:defRPr sz="2000"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11/28/2025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9614" y="2514600"/>
            <a:ext cx="8692399" cy="2819400"/>
          </a:xfrm>
        </p:spPr>
        <p:txBody>
          <a:bodyPr anchor="b">
            <a:normAutofit/>
          </a:bodyPr>
          <a:lstStyle>
            <a:lvl1pPr algn="l">
              <a:lnSpc>
                <a:spcPct val="8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065213" y="5410200"/>
            <a:ext cx="8687333"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11/28/2025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04781" y="1905001"/>
            <a:ext cx="4419599"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29183" y="1905001"/>
            <a:ext cx="441960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t>11/28/2025</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dirty="0"/>
          </a:p>
        </p:txBody>
      </p:sp>
      <p:sp>
        <p:nvSpPr>
          <p:cNvPr id="7" name="Date Placeholder 6"/>
          <p:cNvSpPr>
            <a:spLocks noGrp="1"/>
          </p:cNvSpPr>
          <p:nvPr>
            <p:ph type="dt" sz="half" idx="10"/>
          </p:nvPr>
        </p:nvSpPr>
        <p:spPr/>
        <p:txBody>
          <a:bodyPr/>
          <a:lstStyle/>
          <a:p>
            <a:fld id="{03F41C87-7AD9-4845-A077-840E4A0F3F06}" type="datetimeFigureOut">
              <a:rPr lang="en-US"/>
              <a:t>11/28/2025</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03F41C87-7AD9-4845-A077-840E4A0F3F06}" type="datetimeFigureOut">
              <a:rPr lang="en-US"/>
              <a:t>11/28/2025</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03F41C87-7AD9-4845-A077-840E4A0F3F06}" type="datetimeFigureOut">
              <a:rPr lang="en-US"/>
              <a:t>11/28/2025</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Autofit/>
          </a:bodyPr>
          <a:lstStyle>
            <a:lvl1pPr algn="l">
              <a:lnSpc>
                <a:spcPct val="90000"/>
              </a:lnSpc>
              <a:defRPr sz="3600" b="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951414" y="685800"/>
            <a:ext cx="6400800"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3F41C87-7AD9-4845-A077-840E4A0F3F06}" type="datetimeFigureOut">
              <a:rPr lang="en-US"/>
              <a:t>11/28/2025</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rmAutofit/>
          </a:bodyPr>
          <a:lstStyle>
            <a:lvl1pPr algn="l">
              <a:lnSpc>
                <a:spcPct val="90000"/>
              </a:lnSpc>
              <a:defRPr sz="3600" b="0" i="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951414" y="685800"/>
            <a:ext cx="6400799"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pPr/>
              <a:t>11/28/2025</a:t>
            </a:fld>
            <a:endParaRPr/>
          </a:p>
        </p:txBody>
      </p:sp>
      <p:sp>
        <p:nvSpPr>
          <p:cNvPr id="7" name="Slide Number Placeholder 6"/>
          <p:cNvSpPr>
            <a:spLocks noGrp="1"/>
          </p:cNvSpPr>
          <p:nvPr>
            <p:ph type="sldNum" sz="quarter" idx="12"/>
          </p:nvPr>
        </p:nvSpPr>
        <p:spPr/>
        <p:txBody>
          <a:bodyPr/>
          <a:lstStyle/>
          <a:p>
            <a:fld id="{2A013F82-EE5E-44EE-A61D-E31C6657F26F}" type="slidenum">
              <a:rPr/>
              <a:pPr/>
              <a:t>‹#›</a:t>
            </a:fld>
            <a:endParaRPr/>
          </a:p>
        </p:txBody>
      </p: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11/28/2025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2412" y="381001"/>
            <a:ext cx="1524001" cy="56388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412" y="381001"/>
            <a:ext cx="7391399"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11/28/2025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144001" cy="13716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04999"/>
            <a:ext cx="9134391"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0"/>
            <a:ext cx="6553199"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226422" y="6400800"/>
            <a:ext cx="144938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03F41C87-7AD9-4845-A077-840E4A0F3F06}" type="datetimeFigureOut">
              <a:rPr lang="en-US" smtClean="0"/>
              <a:pPr/>
              <a:t>11/28/2025</a:t>
            </a:fld>
            <a:endParaRPr lang="en-US"/>
          </a:p>
        </p:txBody>
      </p:sp>
      <p:sp>
        <p:nvSpPr>
          <p:cNvPr id="6" name="Slide Number Placeholder 5"/>
          <p:cNvSpPr>
            <a:spLocks noGrp="1"/>
          </p:cNvSpPr>
          <p:nvPr>
            <p:ph type="sldNum" sz="quarter" idx="4"/>
          </p:nvPr>
        </p:nvSpPr>
        <p:spPr>
          <a:xfrm>
            <a:off x="9828211" y="6400800"/>
            <a:ext cx="838201"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a:p>
        </p:txBody>
      </p:sp>
    </p:spTree>
    <p:extLst>
      <p:ext uri="{BB962C8B-B14F-4D97-AF65-F5344CB8AC3E}">
        <p14:creationId xmlns:p14="http://schemas.microsoft.com/office/powerpoint/2010/main" val="140305999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tomer Churn Prediction Using Machine Learning | by Allan Ouko | Medium">
            <a:extLst>
              <a:ext uri="{FF2B5EF4-FFF2-40B4-BE49-F238E27FC236}">
                <a16:creationId xmlns:a16="http://schemas.microsoft.com/office/drawing/2014/main" id="{6098A844-612F-130E-64AD-73407019FE28}"/>
              </a:ext>
            </a:extLst>
          </p:cNvP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t="9942" b="9942"/>
          <a:stretch>
            <a:fillRect/>
          </a:stretch>
        </p:blipFill>
        <p:spPr bwMode="auto">
          <a:xfrm>
            <a:off x="46038" y="44450"/>
            <a:ext cx="12096750" cy="346392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1412CBB-9C76-320A-9462-035EE8D8E13C}"/>
              </a:ext>
            </a:extLst>
          </p:cNvPr>
          <p:cNvSpPr txBox="1"/>
          <p:nvPr/>
        </p:nvSpPr>
        <p:spPr>
          <a:xfrm>
            <a:off x="567798" y="3789040"/>
            <a:ext cx="11053228" cy="1169551"/>
          </a:xfrm>
          <a:prstGeom prst="rect">
            <a:avLst/>
          </a:prstGeom>
          <a:noFill/>
        </p:spPr>
        <p:txBody>
          <a:bodyPr wrap="square" rtlCol="0">
            <a:spAutoFit/>
          </a:bodyPr>
          <a:lstStyle/>
          <a:p>
            <a:pPr algn="ctr"/>
            <a:r>
              <a:rPr lang="en-US" sz="3500" b="1" dirty="0">
                <a:latin typeface="Segoe UI" panose="020B0502040204020203" pitchFamily="34" charset="0"/>
                <a:cs typeface="Segoe UI" panose="020B0502040204020203" pitchFamily="34" charset="0"/>
              </a:rPr>
              <a:t>Profit-Aware and Explainable Customer Churn Prediction Using Cost-Sensitive Learning</a:t>
            </a:r>
            <a:endParaRPr lang="en-IN" sz="3500" dirty="0"/>
          </a:p>
        </p:txBody>
      </p:sp>
      <p:sp>
        <p:nvSpPr>
          <p:cNvPr id="11" name="TextBox 10">
            <a:extLst>
              <a:ext uri="{FF2B5EF4-FFF2-40B4-BE49-F238E27FC236}">
                <a16:creationId xmlns:a16="http://schemas.microsoft.com/office/drawing/2014/main" id="{99BDE694-83D5-771C-5E3C-2540D7B6351D}"/>
              </a:ext>
            </a:extLst>
          </p:cNvPr>
          <p:cNvSpPr txBox="1"/>
          <p:nvPr/>
        </p:nvSpPr>
        <p:spPr>
          <a:xfrm>
            <a:off x="1125860" y="4958591"/>
            <a:ext cx="9721080" cy="477054"/>
          </a:xfrm>
          <a:prstGeom prst="rect">
            <a:avLst/>
          </a:prstGeom>
          <a:noFill/>
        </p:spPr>
        <p:txBody>
          <a:bodyPr wrap="square">
            <a:spAutoFit/>
          </a:bodyPr>
          <a:lstStyle/>
          <a:p>
            <a:pPr algn="ctr"/>
            <a:r>
              <a:rPr lang="en-US" sz="2500" b="1" dirty="0">
                <a:latin typeface="Segoe UI" panose="020B0502040204020203" pitchFamily="34" charset="0"/>
                <a:cs typeface="Segoe UI" panose="020B0502040204020203" pitchFamily="34" charset="0"/>
              </a:rPr>
              <a:t>Predicting Customer Attrition with Intelligence and Insight</a:t>
            </a:r>
          </a:p>
        </p:txBody>
      </p:sp>
      <p:sp>
        <p:nvSpPr>
          <p:cNvPr id="12" name="TextBox 11">
            <a:extLst>
              <a:ext uri="{FF2B5EF4-FFF2-40B4-BE49-F238E27FC236}">
                <a16:creationId xmlns:a16="http://schemas.microsoft.com/office/drawing/2014/main" id="{FFD4EEF9-994D-BA20-E72E-92F7FC01BE4D}"/>
              </a:ext>
            </a:extLst>
          </p:cNvPr>
          <p:cNvSpPr txBox="1"/>
          <p:nvPr/>
        </p:nvSpPr>
        <p:spPr>
          <a:xfrm>
            <a:off x="3790156" y="5722961"/>
            <a:ext cx="4392488" cy="400110"/>
          </a:xfrm>
          <a:prstGeom prst="rect">
            <a:avLst/>
          </a:prstGeom>
          <a:noFill/>
        </p:spPr>
        <p:txBody>
          <a:bodyPr wrap="square" rtlCol="0">
            <a:spAutoFit/>
          </a:bodyPr>
          <a:lstStyle/>
          <a:p>
            <a:r>
              <a:rPr lang="en-IN" sz="2000" b="1" dirty="0">
                <a:latin typeface="Segoe UI" panose="020B0502040204020203" pitchFamily="34" charset="0"/>
                <a:cs typeface="Segoe UI" panose="020B0502040204020203" pitchFamily="34" charset="0"/>
              </a:rPr>
              <a:t>by: Aadya Vaid and Devica Vasan</a:t>
            </a:r>
          </a:p>
        </p:txBody>
      </p:sp>
    </p:spTree>
    <p:extLst>
      <p:ext uri="{BB962C8B-B14F-4D97-AF65-F5344CB8AC3E}">
        <p14:creationId xmlns:p14="http://schemas.microsoft.com/office/powerpoint/2010/main" val="1108506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430239-B4F9-63EB-8EEA-CE1075A49889}"/>
              </a:ext>
            </a:extLst>
          </p:cNvPr>
          <p:cNvSpPr txBox="1"/>
          <p:nvPr/>
        </p:nvSpPr>
        <p:spPr>
          <a:xfrm>
            <a:off x="2842236" y="372720"/>
            <a:ext cx="6504352" cy="553998"/>
          </a:xfrm>
          <a:prstGeom prst="rect">
            <a:avLst/>
          </a:prstGeom>
          <a:noFill/>
        </p:spPr>
        <p:txBody>
          <a:bodyPr wrap="square">
            <a:spAutoFit/>
          </a:bodyPr>
          <a:lstStyle/>
          <a:p>
            <a:r>
              <a:rPr lang="en-IN" sz="3000" b="1" dirty="0">
                <a:latin typeface="Segoe UI" panose="020B0502040204020203" pitchFamily="34" charset="0"/>
                <a:cs typeface="Segoe UI" panose="020B0502040204020203" pitchFamily="34" charset="0"/>
              </a:rPr>
              <a:t>Project Overview &amp; Dataset Details</a:t>
            </a:r>
          </a:p>
        </p:txBody>
      </p:sp>
      <p:sp>
        <p:nvSpPr>
          <p:cNvPr id="6" name="TextBox 5">
            <a:extLst>
              <a:ext uri="{FF2B5EF4-FFF2-40B4-BE49-F238E27FC236}">
                <a16:creationId xmlns:a16="http://schemas.microsoft.com/office/drawing/2014/main" id="{723EE17F-32A1-02DF-5196-9D34F55DF6D4}"/>
              </a:ext>
            </a:extLst>
          </p:cNvPr>
          <p:cNvSpPr txBox="1"/>
          <p:nvPr/>
        </p:nvSpPr>
        <p:spPr>
          <a:xfrm>
            <a:off x="981844" y="1236492"/>
            <a:ext cx="10369152" cy="954107"/>
          </a:xfrm>
          <a:prstGeom prst="rect">
            <a:avLst/>
          </a:prstGeom>
          <a:noFill/>
        </p:spPr>
        <p:txBody>
          <a:bodyPr wrap="square">
            <a:spAutoFit/>
          </a:bodyPr>
          <a:lstStyle/>
          <a:p>
            <a:pPr algn="ctr">
              <a:buNone/>
            </a:pPr>
            <a:r>
              <a:rPr lang="en-US" sz="2000" b="1" dirty="0">
                <a:latin typeface="Segoe UI" panose="020B0502040204020203" pitchFamily="34" charset="0"/>
                <a:cs typeface="Segoe UI" panose="020B0502040204020203" pitchFamily="34" charset="0"/>
              </a:rPr>
              <a:t>Problem &amp; Objective</a:t>
            </a:r>
          </a:p>
          <a:p>
            <a:pPr>
              <a:buNone/>
            </a:pPr>
            <a:r>
              <a:rPr lang="en-US" dirty="0">
                <a:latin typeface="Segoe UI" panose="020B0502040204020203" pitchFamily="34" charset="0"/>
                <a:cs typeface="Segoe UI" panose="020B0502040204020203" pitchFamily="34" charset="0"/>
              </a:rPr>
              <a:t>Customer churn impacts long-term profitability; churn datasets are highly imbalanced.</a:t>
            </a:r>
          </a:p>
          <a:p>
            <a:pPr>
              <a:buNone/>
            </a:pPr>
            <a:r>
              <a:rPr lang="en-US" dirty="0">
                <a:latin typeface="Segoe UI" panose="020B0502040204020203" pitchFamily="34" charset="0"/>
                <a:cs typeface="Segoe UI" panose="020B0502040204020203" pitchFamily="34" charset="0"/>
              </a:rPr>
              <a:t>Goal: Build a profit-aware, interpretable churn prediction model that identifies high-value churners.</a:t>
            </a:r>
          </a:p>
        </p:txBody>
      </p:sp>
      <p:sp>
        <p:nvSpPr>
          <p:cNvPr id="7" name="TextBox 6">
            <a:extLst>
              <a:ext uri="{FF2B5EF4-FFF2-40B4-BE49-F238E27FC236}">
                <a16:creationId xmlns:a16="http://schemas.microsoft.com/office/drawing/2014/main" id="{60431438-9426-D7CE-3194-9ED6CF4D264F}"/>
              </a:ext>
            </a:extLst>
          </p:cNvPr>
          <p:cNvSpPr txBox="1"/>
          <p:nvPr/>
        </p:nvSpPr>
        <p:spPr>
          <a:xfrm>
            <a:off x="3250096" y="2500373"/>
            <a:ext cx="5688632" cy="400110"/>
          </a:xfrm>
          <a:prstGeom prst="rect">
            <a:avLst/>
          </a:prstGeom>
          <a:noFill/>
        </p:spPr>
        <p:txBody>
          <a:bodyPr wrap="square" rtlCol="0">
            <a:spAutoFit/>
          </a:bodyPr>
          <a:lstStyle/>
          <a:p>
            <a:r>
              <a:rPr lang="en-IN" sz="2000" b="1" dirty="0">
                <a:latin typeface="Segoe UI" panose="020B0502040204020203" pitchFamily="34" charset="0"/>
                <a:cs typeface="Segoe UI" panose="020B0502040204020203" pitchFamily="34" charset="0"/>
              </a:rPr>
              <a:t>Dataset - </a:t>
            </a:r>
            <a:r>
              <a:rPr lang="en-US" sz="2000" b="1" dirty="0">
                <a:latin typeface="Segoe UI" panose="020B0502040204020203" pitchFamily="34" charset="0"/>
                <a:cs typeface="Segoe UI" panose="020B0502040204020203" pitchFamily="34" charset="0"/>
              </a:rPr>
              <a:t>Credit Card User </a:t>
            </a:r>
            <a:r>
              <a:rPr lang="en-US" sz="2000" b="1" dirty="0" err="1">
                <a:latin typeface="Segoe UI" panose="020B0502040204020203" pitchFamily="34" charset="0"/>
                <a:cs typeface="Segoe UI" panose="020B0502040204020203" pitchFamily="34" charset="0"/>
              </a:rPr>
              <a:t>Behaviour</a:t>
            </a:r>
            <a:r>
              <a:rPr lang="en-US" sz="2000" b="1" dirty="0">
                <a:latin typeface="Segoe UI" panose="020B0502040204020203" pitchFamily="34" charset="0"/>
                <a:cs typeface="Segoe UI" panose="020B0502040204020203" pitchFamily="34" charset="0"/>
              </a:rPr>
              <a:t> Dataset</a:t>
            </a:r>
            <a:endParaRPr lang="en-IN" sz="2000" b="1" dirty="0">
              <a:latin typeface="Segoe UI" panose="020B0502040204020203" pitchFamily="34" charset="0"/>
              <a:cs typeface="Segoe UI" panose="020B0502040204020203" pitchFamily="34" charset="0"/>
            </a:endParaRPr>
          </a:p>
        </p:txBody>
      </p:sp>
      <p:sp>
        <p:nvSpPr>
          <p:cNvPr id="9" name="TextBox 8">
            <a:extLst>
              <a:ext uri="{FF2B5EF4-FFF2-40B4-BE49-F238E27FC236}">
                <a16:creationId xmlns:a16="http://schemas.microsoft.com/office/drawing/2014/main" id="{D02ACAE4-CCC5-083E-3CBB-F504FCFDF727}"/>
              </a:ext>
            </a:extLst>
          </p:cNvPr>
          <p:cNvSpPr txBox="1"/>
          <p:nvPr/>
        </p:nvSpPr>
        <p:spPr>
          <a:xfrm>
            <a:off x="333772" y="3068960"/>
            <a:ext cx="3478493" cy="3416320"/>
          </a:xfrm>
          <a:prstGeom prst="rect">
            <a:avLst/>
          </a:prstGeom>
          <a:noFill/>
        </p:spPr>
        <p:txBody>
          <a:bodyPr wrap="square">
            <a:spAutoFit/>
          </a:bodyPr>
          <a:lstStyle/>
          <a:p>
            <a:pPr algn="ctr">
              <a:buNone/>
            </a:pPr>
            <a:r>
              <a:rPr lang="en-US" b="1" dirty="0">
                <a:solidFill>
                  <a:schemeClr val="tx2"/>
                </a:solidFill>
                <a:latin typeface="Segoe UI" panose="020B0502040204020203" pitchFamily="34" charset="0"/>
                <a:cs typeface="Segoe UI" panose="020B0502040204020203" pitchFamily="34" charset="0"/>
              </a:rPr>
              <a:t>Overview</a:t>
            </a:r>
          </a:p>
          <a:p>
            <a:pPr algn="ctr"/>
            <a:r>
              <a:rPr lang="en-US" dirty="0">
                <a:latin typeface="Segoe UI" panose="020B0502040204020203" pitchFamily="34" charset="0"/>
                <a:cs typeface="Segoe UI" panose="020B0502040204020203" pitchFamily="34" charset="0"/>
              </a:rPr>
              <a:t>The dataset includes 10,128 customer records with 23 demographic, financial, and behavioral attributes in a clean CSV format without missing values. It has an imbalanced class distribution of 84% active and 16% churned customers, reflecting real banking scenarios and making it suitable for churn prediction.</a:t>
            </a:r>
          </a:p>
        </p:txBody>
      </p:sp>
      <p:sp>
        <p:nvSpPr>
          <p:cNvPr id="11" name="TextBox 10">
            <a:extLst>
              <a:ext uri="{FF2B5EF4-FFF2-40B4-BE49-F238E27FC236}">
                <a16:creationId xmlns:a16="http://schemas.microsoft.com/office/drawing/2014/main" id="{7268E82E-F465-6D3C-4760-517FF9963965}"/>
              </a:ext>
            </a:extLst>
          </p:cNvPr>
          <p:cNvSpPr txBox="1"/>
          <p:nvPr/>
        </p:nvSpPr>
        <p:spPr>
          <a:xfrm>
            <a:off x="4042184" y="3068960"/>
            <a:ext cx="4104456" cy="3416320"/>
          </a:xfrm>
          <a:prstGeom prst="rect">
            <a:avLst/>
          </a:prstGeom>
          <a:noFill/>
        </p:spPr>
        <p:txBody>
          <a:bodyPr wrap="square">
            <a:spAutoFit/>
          </a:bodyPr>
          <a:lstStyle/>
          <a:p>
            <a:pPr algn="ctr">
              <a:buNone/>
            </a:pPr>
            <a:r>
              <a:rPr lang="en-US" b="1" dirty="0">
                <a:solidFill>
                  <a:schemeClr val="tx2"/>
                </a:solidFill>
                <a:latin typeface="Segoe UI" panose="020B0502040204020203" pitchFamily="34" charset="0"/>
                <a:cs typeface="Segoe UI" panose="020B0502040204020203" pitchFamily="34" charset="0"/>
              </a:rPr>
              <a:t>Key Feature Categories</a:t>
            </a:r>
          </a:p>
          <a:p>
            <a:pPr algn="ctr"/>
            <a:r>
              <a:rPr lang="en-US" dirty="0">
                <a:latin typeface="Segoe UI" panose="020B0502040204020203" pitchFamily="34" charset="0"/>
                <a:cs typeface="Segoe UI" panose="020B0502040204020203" pitchFamily="34" charset="0"/>
              </a:rPr>
              <a:t>The dataset features demographic details such as age, gender, education, income, and marital status, along with account information like credit limit, revolving balance, and utilization ratio. It also includes behavioral data such as transaction amount and count, months inactive, contact frequency, relationship duration, and product count—key indicators of churn behavior.</a:t>
            </a:r>
          </a:p>
        </p:txBody>
      </p:sp>
      <p:sp>
        <p:nvSpPr>
          <p:cNvPr id="13" name="TextBox 12">
            <a:extLst>
              <a:ext uri="{FF2B5EF4-FFF2-40B4-BE49-F238E27FC236}">
                <a16:creationId xmlns:a16="http://schemas.microsoft.com/office/drawing/2014/main" id="{2C2CBF2A-7DD5-A92F-C1EC-8AA784E413A1}"/>
              </a:ext>
            </a:extLst>
          </p:cNvPr>
          <p:cNvSpPr txBox="1"/>
          <p:nvPr/>
        </p:nvSpPr>
        <p:spPr>
          <a:xfrm>
            <a:off x="8336552" y="3068960"/>
            <a:ext cx="3478493" cy="3139321"/>
          </a:xfrm>
          <a:prstGeom prst="rect">
            <a:avLst/>
          </a:prstGeom>
          <a:noFill/>
        </p:spPr>
        <p:txBody>
          <a:bodyPr wrap="square">
            <a:spAutoFit/>
          </a:bodyPr>
          <a:lstStyle/>
          <a:p>
            <a:pPr algn="ctr"/>
            <a:r>
              <a:rPr lang="en-US" b="1" dirty="0">
                <a:solidFill>
                  <a:schemeClr val="tx2"/>
                </a:solidFill>
                <a:latin typeface="Segoe UI" panose="020B0502040204020203" pitchFamily="34" charset="0"/>
                <a:cs typeface="Segoe UI" panose="020B0502040204020203" pitchFamily="34" charset="0"/>
              </a:rPr>
              <a:t>Why This Dataset?</a:t>
            </a:r>
          </a:p>
          <a:p>
            <a:pPr algn="ctr"/>
            <a:r>
              <a:rPr lang="en-US" dirty="0">
                <a:latin typeface="Segoe UI" panose="020B0502040204020203" pitchFamily="34" charset="0"/>
                <a:cs typeface="Segoe UI" panose="020B0502040204020203" pitchFamily="34" charset="0"/>
              </a:rPr>
              <a:t>This dataset is ideal because it captures real customer behavior and has a natural class imbalance that supports cost-sensitive and CLV-weighted modeling. Its high-quality, diverse features make it a strong foundation for building an accurate and profit-focused churn prediction model.</a:t>
            </a:r>
          </a:p>
        </p:txBody>
      </p:sp>
    </p:spTree>
    <p:extLst>
      <p:ext uri="{BB962C8B-B14F-4D97-AF65-F5344CB8AC3E}">
        <p14:creationId xmlns:p14="http://schemas.microsoft.com/office/powerpoint/2010/main" val="3313417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7A8436-ED72-5823-5472-2D23625B5C5B}"/>
              </a:ext>
            </a:extLst>
          </p:cNvPr>
          <p:cNvSpPr txBox="1"/>
          <p:nvPr/>
        </p:nvSpPr>
        <p:spPr>
          <a:xfrm>
            <a:off x="765820" y="332656"/>
            <a:ext cx="5158308" cy="1015663"/>
          </a:xfrm>
          <a:prstGeom prst="rect">
            <a:avLst/>
          </a:prstGeom>
          <a:noFill/>
        </p:spPr>
        <p:txBody>
          <a:bodyPr wrap="square" rtlCol="0">
            <a:spAutoFit/>
          </a:bodyPr>
          <a:lstStyle/>
          <a:p>
            <a:pPr algn="ctr"/>
            <a:r>
              <a:rPr lang="en-IN" sz="3000" b="1" dirty="0">
                <a:latin typeface="Segoe UI" panose="020B0502040204020203" pitchFamily="34" charset="0"/>
                <a:cs typeface="Segoe UI" panose="020B0502040204020203" pitchFamily="34" charset="0"/>
              </a:rPr>
              <a:t>Methodology and Model Architecture</a:t>
            </a:r>
          </a:p>
        </p:txBody>
      </p:sp>
      <p:pic>
        <p:nvPicPr>
          <p:cNvPr id="4" name="Picture 3">
            <a:extLst>
              <a:ext uri="{FF2B5EF4-FFF2-40B4-BE49-F238E27FC236}">
                <a16:creationId xmlns:a16="http://schemas.microsoft.com/office/drawing/2014/main" id="{7AD56EAE-6FBC-A14B-417F-553FA35780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2484" y="0"/>
            <a:ext cx="5446341" cy="6858000"/>
          </a:xfrm>
          <a:prstGeom prst="rect">
            <a:avLst/>
          </a:prstGeom>
        </p:spPr>
      </p:pic>
      <p:sp>
        <p:nvSpPr>
          <p:cNvPr id="7" name="TextBox 6">
            <a:extLst>
              <a:ext uri="{FF2B5EF4-FFF2-40B4-BE49-F238E27FC236}">
                <a16:creationId xmlns:a16="http://schemas.microsoft.com/office/drawing/2014/main" id="{4C268176-82AA-3812-81FC-021493F46533}"/>
              </a:ext>
            </a:extLst>
          </p:cNvPr>
          <p:cNvSpPr txBox="1"/>
          <p:nvPr/>
        </p:nvSpPr>
        <p:spPr>
          <a:xfrm>
            <a:off x="297939" y="1400273"/>
            <a:ext cx="6094070" cy="3139321"/>
          </a:xfrm>
          <a:prstGeom prst="rect">
            <a:avLst/>
          </a:prstGeom>
          <a:noFill/>
        </p:spPr>
        <p:txBody>
          <a:bodyPr wrap="square">
            <a:spAutoFit/>
          </a:bodyPr>
          <a:lstStyle/>
          <a:p>
            <a:pPr marL="285750" indent="-285750">
              <a:buFont typeface="Arial" panose="020B0604020202020204" pitchFamily="34" charset="0"/>
              <a:buChar char="•"/>
            </a:pPr>
            <a:r>
              <a:rPr lang="en-IN" dirty="0">
                <a:latin typeface="Segoe UI" panose="020B0502040204020203" pitchFamily="34" charset="0"/>
                <a:cs typeface="Segoe UI" panose="020B0502040204020203" pitchFamily="34" charset="0"/>
              </a:rPr>
              <a:t>Data preprocessing: remove irrelevant features, encode </a:t>
            </a:r>
            <a:r>
              <a:rPr lang="en-IN" dirty="0" err="1">
                <a:latin typeface="Segoe UI" panose="020B0502040204020203" pitchFamily="34" charset="0"/>
                <a:cs typeface="Segoe UI" panose="020B0502040204020203" pitchFamily="34" charset="0"/>
              </a:rPr>
              <a:t>categoricals</a:t>
            </a:r>
            <a:r>
              <a:rPr lang="en-IN" dirty="0">
                <a:latin typeface="Segoe UI" panose="020B0502040204020203" pitchFamily="34" charset="0"/>
                <a:cs typeface="Segoe UI" panose="020B0502040204020203" pitchFamily="34" charset="0"/>
              </a:rPr>
              <a:t>, standardize numerical values.</a:t>
            </a:r>
          </a:p>
          <a:p>
            <a:pPr marL="285750" indent="-285750">
              <a:buFont typeface="Arial" panose="020B0604020202020204" pitchFamily="34" charset="0"/>
              <a:buChar char="•"/>
            </a:pPr>
            <a:r>
              <a:rPr lang="en-IN" dirty="0">
                <a:latin typeface="Segoe UI" panose="020B0502040204020203" pitchFamily="34" charset="0"/>
                <a:cs typeface="Segoe UI" panose="020B0502040204020203" pitchFamily="34" charset="0"/>
              </a:rPr>
              <a:t>Apply 80:20 stratified split to preserve churn distribution.</a:t>
            </a:r>
          </a:p>
          <a:p>
            <a:pPr marL="285750" indent="-285750">
              <a:buFont typeface="Arial" panose="020B0604020202020204" pitchFamily="34" charset="0"/>
              <a:buChar char="•"/>
            </a:pPr>
            <a:r>
              <a:rPr lang="en-IN" dirty="0">
                <a:latin typeface="Segoe UI" panose="020B0502040204020203" pitchFamily="34" charset="0"/>
                <a:cs typeface="Segoe UI" panose="020B0502040204020203" pitchFamily="34" charset="0"/>
              </a:rPr>
              <a:t>Train cost-sensitive </a:t>
            </a:r>
            <a:r>
              <a:rPr lang="en-IN" dirty="0" err="1">
                <a:latin typeface="Segoe UI" panose="020B0502040204020203" pitchFamily="34" charset="0"/>
                <a:cs typeface="Segoe UI" panose="020B0502040204020203" pitchFamily="34" charset="0"/>
              </a:rPr>
              <a:t>XGBoost</a:t>
            </a:r>
            <a:r>
              <a:rPr lang="en-IN" dirty="0">
                <a:latin typeface="Segoe UI" panose="020B0502040204020203" pitchFamily="34" charset="0"/>
                <a:cs typeface="Segoe UI" panose="020B0502040204020203" pitchFamily="34" charset="0"/>
              </a:rPr>
              <a:t> with </a:t>
            </a:r>
            <a:r>
              <a:rPr lang="en-IN" dirty="0" err="1">
                <a:latin typeface="Segoe UI" panose="020B0502040204020203" pitchFamily="34" charset="0"/>
                <a:cs typeface="Segoe UI" panose="020B0502040204020203" pitchFamily="34" charset="0"/>
              </a:rPr>
              <a:t>scale_pos_weight</a:t>
            </a:r>
            <a:r>
              <a:rPr lang="en-IN" dirty="0">
                <a:latin typeface="Segoe UI" panose="020B0502040204020203" pitchFamily="34" charset="0"/>
                <a:cs typeface="Segoe UI" panose="020B0502040204020203" pitchFamily="34" charset="0"/>
              </a:rPr>
              <a:t> + CLV-based sample weights.</a:t>
            </a:r>
          </a:p>
          <a:p>
            <a:pPr marL="285750" indent="-285750">
              <a:buFont typeface="Arial" panose="020B0604020202020204" pitchFamily="34" charset="0"/>
              <a:buChar char="•"/>
            </a:pPr>
            <a:r>
              <a:rPr lang="en-IN" dirty="0">
                <a:latin typeface="Segoe UI" panose="020B0502040204020203" pitchFamily="34" charset="0"/>
                <a:cs typeface="Segoe UI" panose="020B0502040204020203" pitchFamily="34" charset="0"/>
              </a:rPr>
              <a:t>Use tuned hyperparameters for optimized performance.</a:t>
            </a:r>
          </a:p>
          <a:p>
            <a:pPr marL="285750" indent="-285750">
              <a:buFont typeface="Arial" panose="020B0604020202020204" pitchFamily="34" charset="0"/>
              <a:buChar char="•"/>
            </a:pPr>
            <a:r>
              <a:rPr lang="en-IN" dirty="0">
                <a:latin typeface="Segoe UI" panose="020B0502040204020203" pitchFamily="34" charset="0"/>
                <a:cs typeface="Segoe UI" panose="020B0502040204020203" pitchFamily="34" charset="0"/>
              </a:rPr>
              <a:t>Evaluate using Accuracy, Precision, Recall, F1-Score, ROC-AUC.</a:t>
            </a:r>
          </a:p>
          <a:p>
            <a:pPr marL="285750" indent="-285750">
              <a:buFont typeface="Arial" panose="020B0604020202020204" pitchFamily="34" charset="0"/>
              <a:buChar char="•"/>
            </a:pPr>
            <a:r>
              <a:rPr lang="en-IN" dirty="0">
                <a:latin typeface="Segoe UI" panose="020B0502040204020203" pitchFamily="34" charset="0"/>
                <a:cs typeface="Segoe UI" panose="020B0502040204020203" pitchFamily="34" charset="0"/>
              </a:rPr>
              <a:t>Apply SHAP explainability to understand feature impact and key churn drivers.</a:t>
            </a:r>
          </a:p>
        </p:txBody>
      </p:sp>
      <p:sp>
        <p:nvSpPr>
          <p:cNvPr id="9" name="TextBox 8">
            <a:extLst>
              <a:ext uri="{FF2B5EF4-FFF2-40B4-BE49-F238E27FC236}">
                <a16:creationId xmlns:a16="http://schemas.microsoft.com/office/drawing/2014/main" id="{C911B6FA-9E9F-20CA-03B6-0463D3AED45C}"/>
              </a:ext>
            </a:extLst>
          </p:cNvPr>
          <p:cNvSpPr txBox="1"/>
          <p:nvPr/>
        </p:nvSpPr>
        <p:spPr>
          <a:xfrm>
            <a:off x="297939" y="4738967"/>
            <a:ext cx="6094070" cy="1754326"/>
          </a:xfrm>
          <a:prstGeom prst="rect">
            <a:avLst/>
          </a:prstGeom>
          <a:noFill/>
        </p:spPr>
        <p:txBody>
          <a:bodyPr wrap="square">
            <a:spAutoFit/>
          </a:bodyPr>
          <a:lstStyle/>
          <a:p>
            <a:r>
              <a:rPr lang="en-US" b="1" dirty="0">
                <a:latin typeface="Segoe UI" panose="020B0502040204020203" pitchFamily="34" charset="0"/>
                <a:cs typeface="Segoe UI" panose="020B0502040204020203" pitchFamily="34" charset="0"/>
              </a:rPr>
              <a:t>This methodology creates a churn prediction system that is both accurate and profit-aware, focusing on customers that matter most to the business. By combining cost-sensitive learning with transparent SHAP insights, the model supports more informed, targeted, and effective customer retention strategies.</a:t>
            </a:r>
            <a:endParaRPr lang="en-IN"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88599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Digital Blue Tunnel 16x9">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895261.potx" id="{4CBF9558-C12D-4F51-9AA3-9D0796951DBC}" vid="{FFC159E6-A134-46E7-B1A0-C306E39FC295}"/>
    </a:ext>
  </a:extLst>
</a:theme>
</file>

<file path=ppt/theme/theme2.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digital blue tunnel presentation (widescreen)</Template>
  <TotalTime>50</TotalTime>
  <Words>352</Words>
  <Application>Microsoft Office PowerPoint</Application>
  <PresentationFormat>Custom</PresentationFormat>
  <Paragraphs>22</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Corbel</vt:lpstr>
      <vt:lpstr>Segoe UI</vt:lpstr>
      <vt:lpstr>Digital Blue Tunnel 16x9</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Praveen Vasan</dc:creator>
  <cp:lastModifiedBy>Praveen Vasan</cp:lastModifiedBy>
  <cp:revision>2</cp:revision>
  <dcterms:created xsi:type="dcterms:W3CDTF">2025-11-27T09:38:07Z</dcterms:created>
  <dcterms:modified xsi:type="dcterms:W3CDTF">2025-11-28T05:22:20Z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